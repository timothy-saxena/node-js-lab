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7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52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76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32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72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3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EA199-9F7A-0FAA-B677-6AA3CE83233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F92D3-AF3E-5131-ECAF-C175A1DA01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1E3A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8288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MGIT CSE DEPARTMENT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Excel to Cloud Database — Architecture &amp; Deployment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1828800" cy="777240"/>
          </a:xfrm>
          <a:prstGeom prst="rect">
            <a:avLst/>
          </a:prstGeom>
          <a:solidFill>
            <a:srgbClr val="1E2D5E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926080"/>
            <a:ext cx="1828800" cy="777240"/>
          </a:xfrm>
          <a:prstGeom prst="rect">
            <a:avLst/>
          </a:prstGeom>
          <a:solidFill>
            <a:srgbClr val="1E2D5E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35,582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1828800" cy="777240"/>
          </a:xfrm>
          <a:prstGeom prst="rect">
            <a:avLst/>
          </a:prstGeom>
          <a:solidFill>
            <a:srgbClr val="1E2D5E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944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Node.js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MySQL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React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Railway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Render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35240" y="4069080"/>
            <a:ext cx="1261872" cy="256032"/>
          </a:xfrm>
          <a:prstGeom prst="rect">
            <a:avLst/>
          </a:prstGeom>
          <a:solidFill>
            <a:srgbClr val="0F1B3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Vercel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dataset — one row per student per subject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2344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HT_NO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54480" y="1188720"/>
            <a:ext cx="10972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COURSE_CODE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202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COURSE_NAME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5486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CIE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120640" y="1188720"/>
            <a:ext cx="5486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69280" y="1188720"/>
            <a:ext cx="5943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188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TOTAL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943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188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GRADE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6400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POINTS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6858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188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CREDITS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1536192"/>
            <a:ext cx="8503920" cy="292608"/>
          </a:xfrm>
          <a:prstGeom prst="rect">
            <a:avLst/>
          </a:prstGeom>
          <a:solidFill>
            <a:srgbClr val="1E2D5E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5361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24261A0501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54480" y="1536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MA101BS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1536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Matrices &amp; Calculus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1536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1536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15361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52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15361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1536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0" y="1536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1828800"/>
            <a:ext cx="8503920" cy="292608"/>
          </a:xfrm>
          <a:prstGeom prst="rect">
            <a:avLst/>
          </a:prstGeom>
          <a:solidFill>
            <a:srgbClr val="162040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828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24261A0501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5448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CS101ES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5176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Prog. for Problem Solv.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0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20640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35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18288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63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18288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18288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2121408"/>
            <a:ext cx="8503920" cy="292608"/>
          </a:xfrm>
          <a:prstGeom prst="rect">
            <a:avLst/>
          </a:prstGeom>
          <a:solidFill>
            <a:srgbClr val="1E2D5E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24261A0502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554480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MA101BS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5176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Matrices &amp; Calculus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19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9280" y="21214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37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63640" y="21214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21214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0" y="21214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2414016"/>
            <a:ext cx="8503920" cy="292608"/>
          </a:xfrm>
          <a:prstGeom prst="rect">
            <a:avLst/>
          </a:prstGeom>
          <a:solidFill>
            <a:srgbClr val="162040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4140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24261A0503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554480" y="2414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CS151ES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51760" y="2414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PPS Lab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0" y="2414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38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20640" y="2414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—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24140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38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63640" y="24140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B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58000" y="24140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98080" y="24140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F"/>
                </a:solidFill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students × ~10 subjects = ~3,000 rows per semester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57200" y="3136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marks can be NULL (lab subjects have no external exam)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 pre-computed in Excel — not always CIE + SEE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38313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with 0 credits are excluded from GPA calculation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4178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number is NOT in the file — passed as CLI argument at import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MySQL: The Import 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backend/scripts/import.js — run once per semester file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36192" cy="1371600"/>
          </a:xfrm>
          <a:prstGeom prst="rect">
            <a:avLst/>
          </a:prstGeom>
          <a:solidFill>
            <a:srgbClr val="1E2D5E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0241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</a:rPr>
              <a:t>Read Excel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xlsx library reads the 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into a JS array of objects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47088" y="1764792"/>
            <a:ext cx="11887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6733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36192" cy="1371600"/>
          </a:xfrm>
          <a:prstGeom prst="rect">
            <a:avLst/>
          </a:prstGeom>
          <a:solidFill>
            <a:srgbClr val="1E2D5E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0241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39112" y="1554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</a:rPr>
              <a:t>Infer Meta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39112" y="187452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Branch, year &amp; section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derived from HT number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66160" y="1764792"/>
            <a:ext cx="11887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6733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12464" y="1097280"/>
            <a:ext cx="1536192" cy="1371600"/>
          </a:xfrm>
          <a:prstGeom prst="rect">
            <a:avLst/>
          </a:prstGeom>
          <a:solidFill>
            <a:srgbClr val="1E2D5E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0241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58184" y="1554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</a:rPr>
              <a:t>Hash Password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58184" y="187452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Default password hashed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with bcrypt (10 rounds)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85232" y="1764792"/>
            <a:ext cx="11887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0096" y="16733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31536" y="1097280"/>
            <a:ext cx="1536192" cy="1371600"/>
          </a:xfrm>
          <a:prstGeom prst="rect">
            <a:avLst/>
          </a:prstGeom>
          <a:solidFill>
            <a:srgbClr val="1E2D5E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5312" y="10241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77256" y="1554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</a:rPr>
              <a:t>Insert Student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7256" y="187452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Creates student row if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HT_NO not already present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04304" y="1764792"/>
            <a:ext cx="11887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6733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0608" y="1097280"/>
            <a:ext cx="1536192" cy="1371600"/>
          </a:xfrm>
          <a:prstGeom prst="rect">
            <a:avLst/>
          </a:prstGeom>
          <a:solidFill>
            <a:srgbClr val="1E2D5E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44384" y="10241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96328" y="1554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</a:rPr>
              <a:t>Upsert Result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96328" y="187452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ON DUPLICATE KEY UPDATE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— safe to re-run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scripts/import.js </a:t>
            </a: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../data/CSE_SEM3.xlsx </a:t>
            </a: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semester number passed as argument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1E2D5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2461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 DUPLICATE KEY UPDATE?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key on (ht_no, semester, course_code) prevents duplicate rows. If you re-run the import for the same file, it updates existing records instead of failing — making the script safely idempotent.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— each with a clear single responsibility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202996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2029968" cy="1691640"/>
          </a:xfrm>
          <a:prstGeom prst="rect">
            <a:avLst/>
          </a:prstGeom>
          <a:solidFill>
            <a:srgbClr val="1E2D5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ht_no  VARCHAR(20)  PK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274320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VARCHAR(255)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 VARCHAR(20)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27432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 TINYINT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7432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 VARCHAR(10)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01168" y="3090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</a:rPr>
              <a:t>1 row per student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1005840"/>
            <a:ext cx="2029968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14016" y="1353312"/>
            <a:ext cx="2029968" cy="2313432"/>
          </a:xfrm>
          <a:prstGeom prst="rect">
            <a:avLst/>
          </a:prstGeom>
          <a:solidFill>
            <a:srgbClr val="1E2D5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AUTO_INCREMENT PK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487168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ht_no  VARCHAR(20)  FK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48716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semester  TINYINT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2487168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  VARCHAR(20)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487168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cie_marks / see_marks / total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487168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grade_letter / grade_points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487168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  INT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414016" y="37124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B82F6"/>
                </a:solidFill>
              </a:rPr>
              <a:t>1 row per student-subject-semester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26864" y="1005840"/>
            <a:ext cx="20299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1353312"/>
            <a:ext cx="2029968" cy="1691640"/>
          </a:xfrm>
          <a:prstGeom prst="rect">
            <a:avLst/>
          </a:prstGeom>
          <a:solidFill>
            <a:srgbClr val="1E2D5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AUTO_INCREMENT PK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700016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VARCHAR(50)  UNIQUE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700016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VARCHAR(255)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700016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VARCHAR(100)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00016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  VARCHAR(20)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626864" y="3090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</a:rPr>
              <a:t>Scopes faculty to one subject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39712" y="1005840"/>
            <a:ext cx="202996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1005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39712" y="1353312"/>
            <a:ext cx="2029968" cy="1069848"/>
          </a:xfrm>
          <a:prstGeom prst="rect">
            <a:avLst/>
          </a:prstGeom>
          <a:solidFill>
            <a:srgbClr val="1E2D5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 AUTO_INCREMENT PK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912864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VARCHAR(50)  UNIQUE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912864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VARCHAR(255)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839712" y="24688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5CF6"/>
                </a:solidFill>
              </a:rPr>
              <a:t>Full dept access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" y="4343400"/>
            <a:ext cx="8741664" cy="548640"/>
          </a:xfrm>
          <a:prstGeom prst="rect">
            <a:avLst/>
          </a:prstGeom>
          <a:solidFill>
            <a:srgbClr val="0A1628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3434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</a:t>
            </a: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──&lt;  </a:t>
            </a: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(one-to-many via ht_no foreign key)   |   </a:t>
            </a: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KEY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(ht_no, semester, course_code) prevents duplicates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Assignment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1,090 students were mapped to CSE-1 through CSE-5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E2D5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097280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</a:rPr>
              <a:t>Batch Year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21992" y="1097280"/>
            <a:ext cx="59436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0972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30552" y="1508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A5E9"/>
                </a:solidFill>
              </a:rPr>
              <a:t>College Code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89504" y="1097280"/>
            <a:ext cx="3200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097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8064" y="1508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Lateral?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82696" y="1097280"/>
            <a:ext cx="5029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91256" y="15087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</a:rPr>
              <a:t>Branch (CSE)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58768" y="1097280"/>
            <a:ext cx="7772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1097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67328" y="1508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</a:rPr>
              <a:t>Roll ← Section key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solidFill>
            <a:srgbClr val="1E2D5E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65960"/>
            <a:ext cx="7315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– 64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~255 students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68296"/>
            <a:ext cx="8229600" cy="347472"/>
          </a:xfrm>
          <a:prstGeom prst="rect">
            <a:avLst/>
          </a:prstGeom>
          <a:solidFill>
            <a:srgbClr val="162040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68296"/>
            <a:ext cx="731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3682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2368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– 99, A0 – C8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2368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~251 students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770632"/>
            <a:ext cx="8229600" cy="347472"/>
          </a:xfrm>
          <a:prstGeom prst="rect">
            <a:avLst/>
          </a:prstGeom>
          <a:solidFill>
            <a:srgbClr val="1E2D5E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70632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770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2770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 – K3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2770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~256 students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172968"/>
            <a:ext cx="8229600" cy="347472"/>
          </a:xfrm>
          <a:prstGeom prst="rect">
            <a:avLst/>
          </a:prstGeom>
          <a:solidFill>
            <a:srgbClr val="162040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172968"/>
            <a:ext cx="731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K4 – R7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3172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~128 students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575304"/>
            <a:ext cx="8229600" cy="347472"/>
          </a:xfrm>
          <a:prstGeom prst="rect">
            <a:avLst/>
          </a:prstGeom>
          <a:solidFill>
            <a:srgbClr val="1E2D5E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575304"/>
            <a:ext cx="73152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5753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20240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 – Z1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35753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~126 students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solidFill>
            <a:srgbClr val="0D1117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05993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 SET section = CASE
</a:t>
            </a:r>
            <a:r>
              <a:rPr lang="en-US" sz="85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RIGHT(ht_no,2) BETWEEN '01' AND '64' THEN 'CSE-1'
</a:t>
            </a: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RIGHT(ht_no,2) BETWEEN '65' AND '99' OR BETWEEN 'A0' AND 'C8' THEN 'CSE-2'  ...
</a:t>
            </a:r>
            <a:r>
              <a:rPr lang="en-US" sz="8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ht_no LIKE '%261A05%';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cloud services — each handling one tier of the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932688"/>
            <a:ext cx="1737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32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Vercel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React app 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on a global CDN.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git push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dev branch.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2651760" cy="594360"/>
          </a:xfrm>
          <a:prstGeom prst="rect">
            <a:avLst/>
          </a:prstGeom>
          <a:solidFill>
            <a:srgbClr val="0D1117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result-analysis-three.vercel.app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834640" cy="3383280"/>
          </a:xfrm>
          <a:prstGeom prst="rect">
            <a:avLst/>
          </a:prstGeom>
          <a:solidFill>
            <a:srgbClr val="0D2818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932688"/>
            <a:ext cx="17373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932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Render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1627632"/>
            <a:ext cx="228600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7190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Node.js / Express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permanently.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auth, GPA logic,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&amp; API routes.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246120"/>
            <a:ext cx="2651760" cy="594360"/>
          </a:xfrm>
          <a:prstGeom prst="rect">
            <a:avLst/>
          </a:prstGeom>
          <a:solidFill>
            <a:srgbClr val="0D1117"/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result-analysis-backend.onrender.com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834640" cy="3383280"/>
          </a:xfrm>
          <a:prstGeom prst="rect">
            <a:avLst/>
          </a:prstGeom>
          <a:solidFill>
            <a:srgbClr val="1A0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932688"/>
            <a:ext cx="17373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932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Railway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8B5CF6"/>
                </a:solidFill>
              </a:rPr>
              <a:t>DATABASE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1627632"/>
            <a:ext cx="228600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7190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MySQL instance.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35,582 result rows.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public TCP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credentials in .env.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246120"/>
            <a:ext cx="2651760" cy="594360"/>
          </a:xfrm>
          <a:prstGeom prst="rect">
            <a:avLst/>
          </a:prstGeom>
          <a:solidFill>
            <a:srgbClr val="0D1117"/>
          </a:solidFill>
          <a:ln w="508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ballast.proxy.rlwy.net:54145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71800" y="2377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HTTPS 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2377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MySQL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Vercel (React)  →  Render (Express API)  →  Railway (MySQL)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 Push to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the dev branch automatically updates both Vercel and Render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36192" cy="1463040"/>
          </a:xfrm>
          <a:prstGeom prst="rect">
            <a:avLst/>
          </a:prstGeom>
          <a:solidFill>
            <a:srgbClr val="1E2D5E"/>
          </a:solidFill>
          <a:ln w="1016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0058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Pushes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dev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7190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1536192" cy="1463040"/>
          </a:xfrm>
          <a:prstGeom prst="rect">
            <a:avLst/>
          </a:prstGeom>
          <a:solidFill>
            <a:srgbClr val="1E2D5E"/>
          </a:solidFill>
          <a:ln w="101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39112" y="14813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 branch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39112" y="20116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truth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17190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12464" y="1097280"/>
            <a:ext cx="1536192" cy="1463040"/>
          </a:xfrm>
          <a:prstGeom prst="rect">
            <a:avLst/>
          </a:prstGeom>
          <a:solidFill>
            <a:srgbClr val="1E2D5E"/>
          </a:solidFill>
          <a:ln w="1016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33672" y="100584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58184" y="14813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Vercel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Detects Push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58184" y="20116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dist/ on CDN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85232" y="17190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31536" y="1097280"/>
            <a:ext cx="1536192" cy="1463040"/>
          </a:xfrm>
          <a:prstGeom prst="rect">
            <a:avLst/>
          </a:prstGeom>
          <a:solidFill>
            <a:srgbClr val="1E2D5E"/>
          </a:solidFill>
          <a:ln w="1016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52744" y="1005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274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77256" y="14813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Render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Detects Push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77256" y="20116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node app.js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04304" y="171907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50608" y="1097280"/>
            <a:ext cx="1536192" cy="1463040"/>
          </a:xfrm>
          <a:prstGeom prst="rect">
            <a:avLst/>
          </a:prstGeom>
          <a:solidFill>
            <a:srgbClr val="1E2D5E"/>
          </a:solidFill>
          <a:ln w="1016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71816" y="10058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6328" y="14813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Railway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Always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96328" y="20116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redeploy needed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is persistent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788920"/>
            <a:ext cx="8229600" cy="1325880"/>
          </a:xfrm>
          <a:prstGeom prst="rect">
            <a:avLst/>
          </a:prstGeom>
          <a:solidFill>
            <a:srgbClr val="1E2D5E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Git Branch Strategy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2004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       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production-ready. No direct pushes.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474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          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branch. Vercel + Render deploy from here.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7490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feature/xxx   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 dev for each feature → PR back into dev.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5486400" cy="54864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dataset (3,000+ rows/semester) imported into MySQL via Node.js 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64008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— students, results, faculty, admins — with foreign keys and unique constraints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6856"/>
            <a:ext cx="6400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7685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1,090 students auto-assigned to CSE-1 through CSE-5 based on HT roll number ranges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9504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895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with JWT auth, role-based access, GPA calculation, PDF marksheets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02152"/>
            <a:ext cx="64008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0215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deployed on Vercel — student, faculty, admin dashboards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1E2D5E"/>
          </a:solidFill>
          <a:ln w="508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14800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hosted on Railway, backend on Render — fully live at a public URL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DE26B18-14CE-F000-E5C4-98D62CFE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74" y="0"/>
            <a:ext cx="69386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6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5719C-15B7-4C30-6BD7-203A5692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1019175"/>
            <a:ext cx="468630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5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90751-9ABC-5EE3-13D1-B77C8D2E9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78" y="0"/>
            <a:ext cx="54572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04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900F5-E3B4-2785-3043-ED6D3DF8A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1304925"/>
            <a:ext cx="50863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8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 Analysis — Database &amp; Deployment</dc:title>
  <dc:subject>PptxGenJS Presentation</dc:subject>
  <dc:creator>PptxGenJS</dc:creator>
  <cp:lastModifiedBy>Anurodh Saxena</cp:lastModifiedBy>
  <cp:revision>2</cp:revision>
  <dcterms:created xsi:type="dcterms:W3CDTF">2026-05-20T08:55:39Z</dcterms:created>
  <dcterms:modified xsi:type="dcterms:W3CDTF">2026-05-20T11:58:43Z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Confidential - Oracle Restricted \Employees Only</vt:lpwstr>
  </property>
</Properties>
</file>